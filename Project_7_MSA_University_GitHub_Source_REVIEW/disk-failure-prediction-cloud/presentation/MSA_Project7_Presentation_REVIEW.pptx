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758952"/>
            <a:ext cx="1170432" cy="73152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881360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45C9B6"/>
                </a:solidFill>
                <a:latin typeface="Aptos"/>
              </a:defRPr>
            </a:pPr>
            <a:r>
              <a:t>CLOUD COMPUTING COURSE • PROJECT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83080"/>
            <a:ext cx="10835640" cy="1938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F6F8FD"/>
                </a:solidFill>
                <a:latin typeface="Aptos"/>
              </a:defRPr>
            </a:pPr>
            <a:r>
              <a:t>Disk Failure Prediction</a:t>
            </a:r>
          </a:p>
          <a:p>
            <a:pPr>
              <a:spcAft>
                <a:spcPts val="600"/>
              </a:spcAft>
              <a:defRPr sz="4200" b="1">
                <a:solidFill>
                  <a:srgbClr val="F6F8FD"/>
                </a:solidFill>
                <a:latin typeface="Aptos"/>
              </a:defRPr>
            </a:pPr>
            <a:r>
              <a:t>in Cloud Data Centres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108813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B0C5D7"/>
                </a:solidFill>
                <a:latin typeface="Aptos"/>
              </a:defRPr>
            </a:pPr>
            <a:r>
              <a:t>Under Extreme Class Imbalance  |  Backblaze Q1 → Q2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4956048"/>
            <a:ext cx="10625328" cy="777240"/>
          </a:xfrm>
          <a:prstGeom prst="round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02936"/>
            <a:ext cx="1014984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6F8FD"/>
                </a:solidFill>
                <a:latin typeface="Aptos"/>
              </a:defRPr>
            </a:pPr>
            <a:r>
              <a:t>Measured AWS experiment results • CPU-based ML • 7-day early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852160"/>
            <a:ext cx="1097280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50">
                <a:solidFill>
                  <a:srgbClr val="E0EBF7"/>
                </a:solidFill>
                <a:latin typeface="Aptos"/>
              </a:rPr>
              <a:t>MSA UNIVERSITY  |  Mohammed Hossam (247713)  •  Ahmed Tamer (244749)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E0EBF7"/>
                </a:solidFill>
                <a:latin typeface="Aptos"/>
              </a:rPr>
              <a:t>Ahmed Mohamed (242679)  •  Hamza Belal (243387)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RESEARCH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Why hard-drive failure prediction is difficult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56231"/>
            <a:ext cx="3520440" cy="315468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56231"/>
            <a:ext cx="3520440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12263"/>
            <a:ext cx="31546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Operational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79191"/>
            <a:ext cx="3063240" cy="22219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6F8FD"/>
                </a:solidFill>
                <a:latin typeface="Aptos"/>
              </a:defRPr>
            </a:pPr>
            <a:r>
              <a:t>Storage hardware can fail without reliable advance warning. A useful detector must catch failures early enough to 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56231"/>
            <a:ext cx="3520440" cy="315468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856231"/>
            <a:ext cx="3520440" cy="64008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12263"/>
            <a:ext cx="31546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FA750"/>
                </a:solidFill>
                <a:latin typeface="Aptos"/>
              </a:defRPr>
            </a:pPr>
            <a:r>
              <a:t>Rare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79191"/>
            <a:ext cx="3063240" cy="22219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6F8FD"/>
                </a:solidFill>
                <a:latin typeface="Aptos"/>
              </a:defRPr>
            </a:pPr>
            <a:r>
              <a:t>Healthy drive-days vastly outnumber failures. Accuracy can look high even when a model catches nothing.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856231"/>
            <a:ext cx="3520440" cy="315468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856231"/>
            <a:ext cx="3520440" cy="64008"/>
          </a:xfrm>
          <a:prstGeom prst="rect">
            <a:avLst/>
          </a:prstGeom>
          <a:solidFill>
            <a:srgbClr val="F3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12263"/>
            <a:ext cx="31546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37976"/>
                </a:solidFill>
                <a:latin typeface="Aptos"/>
              </a:defRPr>
            </a:pPr>
            <a:r>
              <a:t>False-alarm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79191"/>
            <a:ext cx="3063240" cy="22219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6F8FD"/>
                </a:solidFill>
                <a:latin typeface="Aptos"/>
              </a:defRPr>
            </a:pPr>
            <a:r>
              <a:t>An alarm on a healthy disk may require checks, migration or replacement. We must report alert load.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04688"/>
            <a:ext cx="1060704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B0C5D7"/>
                </a:solidFill>
                <a:latin typeface="Aptos"/>
              </a:defRPr>
            </a:pPr>
            <a:r>
              <a:t>Target: a confirmed failure in the next 7 calendar days using SMART features known at prediction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DATA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Dataset: a pilot for fitting, then a realistic holdout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" y="1783080"/>
            <a:ext cx="3529584" cy="160020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" y="1783080"/>
            <a:ext cx="68580" cy="1600200"/>
          </a:xfrm>
          <a:prstGeom prst="rect">
            <a:avLst/>
          </a:prstGeom>
          <a:solidFill>
            <a:srgbClr val="75A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1947672"/>
            <a:ext cx="3255264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0C5D7"/>
                </a:solidFill>
                <a:latin typeface="Aptos"/>
              </a:defRPr>
            </a:pPr>
            <a:r>
              <a:t>Q1 ORIGINAL DRIVE-DAYS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14015"/>
            <a:ext cx="32552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75AAEF"/>
                </a:solidFill>
                <a:latin typeface="Aptos"/>
              </a:defRPr>
            </a:pPr>
            <a:r>
              <a:t>21,454,992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9584" cy="160020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68580" cy="1600200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47672"/>
            <a:ext cx="3255264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0C5D7"/>
                </a:solidFill>
                <a:latin typeface="Aptos"/>
              </a:defRPr>
            </a:pPr>
            <a:r>
              <a:t>Q1 POSITIVE-ENRICHED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414015"/>
            <a:ext cx="32552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EFA750"/>
                </a:solidFill>
                <a:latin typeface="Aptos"/>
              </a:defRPr>
            </a:pPr>
            <a:r>
              <a:t>140,512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83080"/>
            <a:ext cx="3529584" cy="160020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783080"/>
            <a:ext cx="68580" cy="160020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947672"/>
            <a:ext cx="3255264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0C5D7"/>
                </a:solidFill>
                <a:latin typeface="Aptos"/>
              </a:defRPr>
            </a:pPr>
            <a:r>
              <a:t>Q2 ELIGIBLE TEST DRIVE-DAYS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414015"/>
            <a:ext cx="32552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45C9B6"/>
                </a:solidFill>
                <a:latin typeface="Aptos"/>
              </a:defRPr>
            </a:pPr>
            <a:r>
              <a:t>2,327,260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" y="3666744"/>
            <a:ext cx="5413248" cy="1911095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" y="3666744"/>
            <a:ext cx="5413248" cy="64008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22776"/>
            <a:ext cx="504748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FA750"/>
                </a:solidFill>
                <a:latin typeface="Aptos"/>
              </a:defRPr>
            </a:pPr>
            <a:r>
              <a:t>Q1 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9704"/>
            <a:ext cx="4956048" cy="97840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Two selected HDD models. Test: 13,946 drive-days; 145 positives (1.0397%). Outcome-enriched sampling for low RAM.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66744"/>
            <a:ext cx="5358384" cy="1911095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666744"/>
            <a:ext cx="5358384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922776"/>
            <a:ext cx="4992624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Q2 later-period holdout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489704"/>
            <a:ext cx="4901184" cy="97840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All eligible drive-days of those two models; 1,317 positives (0.05659%). No failure-based sampling.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980176"/>
            <a:ext cx="1078992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37976"/>
                </a:solidFill>
                <a:latin typeface="Aptos"/>
              </a:defRPr>
            </a:pPr>
            <a:r>
              <a:t>Caution: pilot precision and Q2 population precision are not directly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How the seven-day prediction label is constructed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828800"/>
            <a:ext cx="3429000" cy="301752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828800"/>
            <a:ext cx="3429000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084832"/>
            <a:ext cx="30632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1  Positive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651760"/>
            <a:ext cx="2971800" cy="208483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6F8FD"/>
                </a:solidFill>
                <a:latin typeface="Aptos"/>
              </a:defRPr>
            </a:pPr>
            <a:r>
              <a:t>A confirmed failure happens on any calendar day t+1 through t+7. Current-day failure is excluded.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429000" cy="301752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3429000" cy="64008"/>
          </a:xfrm>
          <a:prstGeom prst="rect">
            <a:avLst/>
          </a:prstGeom>
          <a:solidFill>
            <a:srgbClr val="75A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084832"/>
            <a:ext cx="30632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75AAEF"/>
                </a:solidFill>
                <a:latin typeface="Aptos"/>
              </a:defRPr>
            </a:pPr>
            <a:r>
              <a:t>0  Negative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51760"/>
            <a:ext cx="2971800" cy="208483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6F8FD"/>
                </a:solidFill>
                <a:latin typeface="Aptos"/>
              </a:defRPr>
            </a:pPr>
            <a:r>
              <a:t>All next seven daily outcomes are observed with no confirmed failure.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29000" cy="301752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429000" cy="64008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084832"/>
            <a:ext cx="30632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FA750"/>
                </a:solidFill>
                <a:latin typeface="Aptos"/>
              </a:defRPr>
            </a:pPr>
            <a:r>
              <a:t>?  Exclude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651760"/>
            <a:ext cx="2971800" cy="208483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Unknown future outcome, missing follow-up or right-censoring: do not automatically mark healthy.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404104"/>
            <a:ext cx="10881360" cy="52120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0C5D7"/>
                </a:solidFill>
                <a:latin typeface="Aptos"/>
              </a:defRPr>
            </a:pPr>
            <a:r>
              <a:t>Protection against leakage: past-only rolling SMART features, chronological splits, and a 7-day gap between Q1 partitions.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AWS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Cloud computing is part of the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80760"/>
            <a:ext cx="10835640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B0C5D7"/>
                </a:solidFill>
                <a:latin typeface="Aptos"/>
              </a:defRPr>
            </a:pPr>
            <a:r>
              <a:t>Source: project source diagram, corroborated by S3 uploads, EC2 terminal sessions, and CloudWatch evidence.</a:t>
            </a:r>
          </a:p>
        </p:txBody>
      </p:sp>
      <p:pic>
        <p:nvPicPr>
          <p:cNvPr id="8" name="Picture 7" descr="aw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56231"/>
            <a:ext cx="10881360" cy="31455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8" y="5285232"/>
            <a:ext cx="10552176" cy="539496"/>
          </a:xfrm>
          <a:prstGeom prst="round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458968"/>
            <a:ext cx="101498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6F8FD"/>
                </a:solidFill>
                <a:latin typeface="Aptos"/>
              </a:defRPr>
            </a:pPr>
            <a:r>
              <a:t>AWS Region: Stockholm (eu-north-1)   |   EC2 Amazon Linux 2023 t3.micro   |   S3 + IAM + EBS + CloudWatch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Baseline and improvement experiments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792224"/>
            <a:ext cx="5257800" cy="1636776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792224"/>
            <a:ext cx="5257800" cy="64008"/>
          </a:xfrm>
          <a:prstGeom prst="rect">
            <a:avLst/>
          </a:prstGeom>
          <a:solidFill>
            <a:srgbClr val="75A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48256"/>
            <a:ext cx="4892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75AAEF"/>
                </a:solidFill>
                <a:latin typeface="Aptos"/>
              </a:defRPr>
            </a:pPr>
            <a:r>
              <a:t>BASELINE •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15184"/>
            <a:ext cx="4800600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SMART attributes, preprocessing and class weights.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92224"/>
            <a:ext cx="5266944" cy="1636776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92224"/>
            <a:ext cx="5266944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048256"/>
            <a:ext cx="4901183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STATIC • Weighted LightGBM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615184"/>
            <a:ext cx="4809744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Tree ensemble tests nonlinear decision boundaries.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648456"/>
            <a:ext cx="5257800" cy="1636776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3648456"/>
            <a:ext cx="5257800" cy="64008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904488"/>
            <a:ext cx="4892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FA750"/>
                </a:solidFill>
                <a:latin typeface="Aptos"/>
              </a:defRPr>
            </a:pPr>
            <a:r>
              <a:t>TEMPORAL • Unweighted LightGBM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471416"/>
            <a:ext cx="4800600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Adds history-derived SMART changes and rolling signals.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48456"/>
            <a:ext cx="5266944" cy="1636776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648456"/>
            <a:ext cx="5266944" cy="64008"/>
          </a:xfrm>
          <a:prstGeom prst="rect">
            <a:avLst/>
          </a:prstGeom>
          <a:solidFill>
            <a:srgbClr val="F3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904488"/>
            <a:ext cx="4901183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37976"/>
                </a:solidFill>
                <a:latin typeface="Aptos"/>
              </a:defRPr>
            </a:pPr>
            <a:r>
              <a:t>TEMPORAL • Weighted LightGBM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4471416"/>
            <a:ext cx="4809744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Combines history features with cost-sensitive weighting.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60720"/>
            <a:ext cx="10698480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0C5D7"/>
                </a:solidFill>
                <a:latin typeface="Aptos"/>
              </a:defRPr>
            </a:pPr>
            <a:r>
              <a:t>Four models were fitted on the Q1 pilot, then evaluated without retraining on Q2.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MEASURED PILOT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Q1 pilot: all four models trained on EC2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56231"/>
            <a:ext cx="336499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38527"/>
            <a:ext cx="321868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6F8F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1856231"/>
            <a:ext cx="144475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7" y="1938527"/>
            <a:ext cx="129844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6F8FD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856231"/>
            <a:ext cx="144475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1938527"/>
            <a:ext cx="129844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6F8FD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7728" y="1856231"/>
            <a:ext cx="130759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1938527"/>
            <a:ext cx="116128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6F8FD"/>
                </a:solidFill>
                <a:latin typeface="Aptos"/>
              </a:defRPr>
            </a:pPr>
            <a:r>
              <a:t>FPR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93608" y="1856231"/>
            <a:ext cx="117043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938527"/>
            <a:ext cx="102412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6F8FD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82328" y="1856231"/>
            <a:ext cx="190195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1938527"/>
            <a:ext cx="175564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6F8FD"/>
                </a:solidFill>
                <a:latin typeface="Aptos"/>
              </a:defRPr>
            </a:pPr>
            <a:r>
              <a:t>Avg. 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423160"/>
            <a:ext cx="33649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482596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41648" y="2423160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23944" y="2482596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1.78%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2423160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4" y="2482596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91.72%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67728" y="2423160"/>
            <a:ext cx="13075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0024" y="2482596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53.19%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3608" y="2423160"/>
            <a:ext cx="117043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2482596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3.49%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82328" y="2423160"/>
            <a:ext cx="19019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2482596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28.34%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2990087"/>
            <a:ext cx="33649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3049523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Static weighted LightGBM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41648" y="2990087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23944" y="3049523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2.50%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4688" y="2990087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6984" y="3049523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91.72%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8" y="2990087"/>
            <a:ext cx="13075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0024" y="3049523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37.53%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8" y="2990087"/>
            <a:ext cx="117043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3049523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4.87%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82328" y="2990087"/>
            <a:ext cx="19019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64624" y="3049523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24.46%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557015"/>
            <a:ext cx="33649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" y="3616451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Temporal LightGBM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41648" y="3557015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23944" y="3616451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3.34%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04688" y="3557015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86984" y="3616451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89.66%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67728" y="3557015"/>
            <a:ext cx="13075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0024" y="3616451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27.26%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93608" y="3557015"/>
            <a:ext cx="117043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3616451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6.44%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82328" y="3557015"/>
            <a:ext cx="19019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64624" y="3616451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29.12%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123944"/>
            <a:ext cx="33649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" y="4183380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Temporal weighted LightGBM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41648" y="4123944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23944" y="4183380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1.76%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04688" y="4123944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86984" y="4183380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90.34%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67728" y="4123944"/>
            <a:ext cx="13075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50024" y="4183380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52.95%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93608" y="4123944"/>
            <a:ext cx="117043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5904" y="4183380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3.46%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82328" y="4123944"/>
            <a:ext cx="19019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64624" y="4183380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23.93%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9808" y="5120640"/>
            <a:ext cx="10671048" cy="640080"/>
          </a:xfrm>
          <a:prstGeom prst="round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" y="5285232"/>
            <a:ext cx="10259568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5C9B6"/>
                </a:solidFill>
                <a:latin typeface="Aptos"/>
              </a:defRPr>
            </a:pPr>
            <a:r>
              <a:t>Lowest Q1 pilot FPR: temporal unweighted LightGBM (27.26%), with 89.66% recall.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" y="6016752"/>
            <a:ext cx="108813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37976"/>
                </a:solidFill>
                <a:latin typeface="Aptos"/>
              </a:defRPr>
            </a:pPr>
            <a:r>
              <a:t>Pilot test: 13,946 drive-days, 145 positives; enrichment changes the alert precision estimate.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INDEPENDENT TEMPORAL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Q2: fixed Q1 thresholds on later-period real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56231"/>
            <a:ext cx="336499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38527"/>
            <a:ext cx="321868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6F8F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1856231"/>
            <a:ext cx="144475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7" y="1938527"/>
            <a:ext cx="129844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6F8FD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856231"/>
            <a:ext cx="144475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1938527"/>
            <a:ext cx="129844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6F8FD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7728" y="1856231"/>
            <a:ext cx="130759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1938527"/>
            <a:ext cx="116128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6F8FD"/>
                </a:solidFill>
                <a:latin typeface="Aptos"/>
              </a:defRPr>
            </a:pPr>
            <a:r>
              <a:t>FPR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93608" y="1856231"/>
            <a:ext cx="117043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938527"/>
            <a:ext cx="102412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6F8FD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82328" y="1856231"/>
            <a:ext cx="1901952" cy="56692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1938527"/>
            <a:ext cx="1755648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6F8FD"/>
                </a:solidFill>
                <a:latin typeface="Aptos"/>
              </a:defRPr>
            </a:pPr>
            <a:r>
              <a:t>Avg. 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423160"/>
            <a:ext cx="33649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482596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41648" y="2423160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23944" y="2482596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0.0876%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2423160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4" y="2482596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85.04%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67728" y="2423160"/>
            <a:ext cx="13075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0024" y="2482596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54.94%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3608" y="2423160"/>
            <a:ext cx="117043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2482596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0.175%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82328" y="2423160"/>
            <a:ext cx="19019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2482596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4.33%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2990087"/>
            <a:ext cx="33649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3049523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Static weighted LightGBM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41648" y="2990087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23944" y="3049523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0.1355%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4688" y="2990087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6984" y="3049523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87.09%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8" y="2990087"/>
            <a:ext cx="13075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0024" y="3049523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36.35%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8" y="2990087"/>
            <a:ext cx="117043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3049523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0.271%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82328" y="2990087"/>
            <a:ext cx="19019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64624" y="3049523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2.82%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557015"/>
            <a:ext cx="33649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" y="3616451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Temporal LightGBM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41648" y="3557015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23944" y="3616451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0.1214%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04688" y="3557015"/>
            <a:ext cx="14447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86984" y="3616451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91.50%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67728" y="3557015"/>
            <a:ext cx="130759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0024" y="3616451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42.64%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93608" y="3557015"/>
            <a:ext cx="117043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3616451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0.242%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82328" y="3557015"/>
            <a:ext cx="1901952" cy="55595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64624" y="3616451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5.88%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123944"/>
            <a:ext cx="33649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" y="4183380"/>
            <a:ext cx="32552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Temporal weighted LightGBM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41648" y="4123944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23944" y="4183380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0.0744%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04688" y="4123944"/>
            <a:ext cx="14447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86984" y="4183380"/>
            <a:ext cx="13350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95.82%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67728" y="4123944"/>
            <a:ext cx="130759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50024" y="4183380"/>
            <a:ext cx="119786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72.92%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93608" y="4123944"/>
            <a:ext cx="117043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5904" y="4183380"/>
            <a:ext cx="106070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0.149%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82328" y="4123944"/>
            <a:ext cx="1901952" cy="55595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64624" y="4183380"/>
            <a:ext cx="1792224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6F8FD"/>
                </a:solidFill>
                <a:latin typeface="Aptos"/>
              </a:defRPr>
            </a:pPr>
            <a:r>
              <a:t>4.36%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9808" y="5084064"/>
            <a:ext cx="10671048" cy="685800"/>
          </a:xfrm>
          <a:prstGeom prst="round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" y="5248656"/>
            <a:ext cx="1025042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5C9B6"/>
                </a:solidFill>
                <a:latin typeface="Aptos"/>
              </a:defRPr>
            </a:pPr>
            <a:r>
              <a:t>Best Q2 false-positive rate: static weighted LightGBM 36.35% at 87.09% recall.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035040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37976"/>
                </a:solidFill>
                <a:latin typeface="Aptos"/>
              </a:defRPr>
            </a:pPr>
            <a:r>
              <a:t>Q2 test: 2,327,260 drive-days, 1,317 positives (0.05659%); precision remains extremely 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MODEL COMPARISONS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Pilot and natural-prevalence false-positive rates</a:t>
            </a:r>
          </a:p>
        </p:txBody>
      </p:sp>
      <p:pic>
        <p:nvPicPr>
          <p:cNvPr id="7" name="Picture 6" descr="Q1_Q2_FP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784"/>
            <a:ext cx="10917936" cy="4087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" y="5925312"/>
            <a:ext cx="1088136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0C5D7"/>
                </a:solidFill>
                <a:latin typeface="Aptos"/>
              </a:defRPr>
            </a:pPr>
            <a:r>
              <a:t>Q1 and Q2 have different prevalence. Neither curve justifies changing thresholds after viewing Q2.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Q2 OPERATIONAL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What improved?  What did not?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92224"/>
            <a:ext cx="3392424" cy="155448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68580" cy="1554480"/>
          </a:xfrm>
          <a:prstGeom prst="rect">
            <a:avLst/>
          </a:prstGeom>
          <a:solidFill>
            <a:srgbClr val="F3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3118104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0C5D7"/>
                </a:solidFill>
                <a:latin typeface="Aptos"/>
              </a:defRPr>
            </a:pPr>
            <a:r>
              <a:t>BASELINE Q2 FPR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23160"/>
            <a:ext cx="31181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37976"/>
                </a:solidFill>
                <a:latin typeface="Aptos"/>
              </a:defRPr>
            </a:pPr>
            <a:r>
              <a:t>54.94%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92224"/>
            <a:ext cx="3392424" cy="155448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792224"/>
            <a:ext cx="68580" cy="155448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56816"/>
            <a:ext cx="3118104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0C5D7"/>
                </a:solidFill>
                <a:latin typeface="Aptos"/>
              </a:defRPr>
            </a:pPr>
            <a:r>
              <a:t>BEST Q2 FPR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423160"/>
            <a:ext cx="31181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45C9B6"/>
                </a:solidFill>
                <a:latin typeface="Aptos"/>
              </a:defRPr>
            </a:pPr>
            <a:r>
              <a:t>36.35%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92224"/>
            <a:ext cx="3392424" cy="155448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792224"/>
            <a:ext cx="68580" cy="1554480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56816"/>
            <a:ext cx="3118104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0C5D7"/>
                </a:solidFill>
                <a:latin typeface="Aptos"/>
              </a:defRPr>
            </a:pPr>
            <a:r>
              <a:t>RELATIVE FPR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423160"/>
            <a:ext cx="31181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EFA750"/>
                </a:solidFill>
                <a:latin typeface="Aptos"/>
              </a:defRPr>
            </a:pPr>
            <a:r>
              <a:t>33.83%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3685032"/>
            <a:ext cx="5193792" cy="1874519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" y="3685032"/>
            <a:ext cx="5193792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941064"/>
            <a:ext cx="4828031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507992"/>
            <a:ext cx="4736592" cy="94183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Static weighted LightGBM raises recall from 85.04% to 87.09% and reduces FPR.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685032"/>
            <a:ext cx="5212080" cy="1874519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685032"/>
            <a:ext cx="5212080" cy="64008"/>
          </a:xfrm>
          <a:prstGeom prst="rect">
            <a:avLst/>
          </a:prstGeom>
          <a:solidFill>
            <a:srgbClr val="F3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941064"/>
            <a:ext cx="484632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37976"/>
                </a:solidFill>
                <a:latin typeface="Aptos"/>
              </a:defRPr>
            </a:pPr>
            <a:r>
              <a:t>Operational 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507992"/>
            <a:ext cx="4754880" cy="94183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It still yields 845,541 false-positive drive-day predictions; precision is only 0.1355%.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MODEL-SPECIFIC Q2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Drive-model shift: one threshold, very different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02536"/>
            <a:ext cx="2907792" cy="65836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2761488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6F8FD"/>
                </a:solidFill>
                <a:latin typeface="Aptos"/>
              </a:defRPr>
            </a:pPr>
            <a:r>
              <a:t>HDD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002536"/>
            <a:ext cx="1563624" cy="65836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84831"/>
            <a:ext cx="141732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6F8FD"/>
                </a:solidFill>
                <a:latin typeface="Aptos"/>
              </a:defRPr>
            </a:pPr>
            <a:r>
              <a:t>Q2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93792" y="2002536"/>
            <a:ext cx="1764792" cy="65836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1" y="2084831"/>
            <a:ext cx="1618488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6F8FD"/>
                </a:solidFill>
                <a:latin typeface="Aptos"/>
              </a:defRPr>
            </a:pPr>
            <a:r>
              <a:t>Q2 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6872" y="2002536"/>
            <a:ext cx="1481328" cy="65836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2084831"/>
            <a:ext cx="1335024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6F8FD"/>
                </a:solidFill>
                <a:latin typeface="Aptos"/>
              </a:defRPr>
            </a:pPr>
            <a:r>
              <a:t>Q2 FPR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76488" y="2002536"/>
            <a:ext cx="2980944" cy="658368"/>
          </a:xfrm>
          <a:prstGeom prst="rect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084831"/>
            <a:ext cx="2834639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6F8FD"/>
                </a:solidFill>
                <a:latin typeface="Aptos"/>
              </a:defRPr>
            </a:pPr>
            <a:r>
              <a:t>False-positive predictions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660904"/>
            <a:ext cx="2907792" cy="64739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720340"/>
            <a:ext cx="2798064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ST12000NM0008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660904"/>
            <a:ext cx="1563624" cy="64739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4176" y="2720340"/>
            <a:ext cx="1453895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87.09%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93792" y="2660904"/>
            <a:ext cx="1764792" cy="64739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2720340"/>
            <a:ext cx="1655064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0.105%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76872" y="2660904"/>
            <a:ext cx="1481328" cy="64739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2720340"/>
            <a:ext cx="137160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54.01%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6488" y="2660904"/>
            <a:ext cx="2980944" cy="647395"/>
          </a:xfrm>
          <a:prstGeom prst="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2720340"/>
            <a:ext cx="2871215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803,097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319272"/>
            <a:ext cx="2907792" cy="64739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378708"/>
            <a:ext cx="2798064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ST14000NM001G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3319272"/>
            <a:ext cx="1563624" cy="64739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4176" y="3378708"/>
            <a:ext cx="1453895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87.11%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93792" y="3319272"/>
            <a:ext cx="1764792" cy="64739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3378708"/>
            <a:ext cx="1655064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0.711%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76872" y="3319272"/>
            <a:ext cx="1481328" cy="64739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3378708"/>
            <a:ext cx="137160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5.06%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76488" y="3319272"/>
            <a:ext cx="2980944" cy="647395"/>
          </a:xfrm>
          <a:prstGeom prst="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3378708"/>
            <a:ext cx="2871215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42,444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" y="4261104"/>
            <a:ext cx="10570464" cy="132588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" y="4261104"/>
            <a:ext cx="10570464" cy="64008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17136"/>
            <a:ext cx="10204704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FA750"/>
                </a:solidFill>
                <a:latin typeface="Aptos"/>
              </a:defRPr>
            </a:pPr>
            <a:r>
              <a:t>Evidence of heterogeneity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084064"/>
            <a:ext cx="10113264" cy="39319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6F8FD"/>
                </a:solidFill>
                <a:latin typeface="Aptos"/>
              </a:defRPr>
            </a:pPr>
            <a:r>
              <a:t>Static weighted LightGBM: 54.01% FPR on ST12000NM0008 but 5.06% on ST14000NM001G. This is not a model-disjoint generalization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ACTUAL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CloudWatch: direct AWS monitoring evidence</a:t>
            </a:r>
          </a:p>
        </p:txBody>
      </p:sp>
      <p:pic>
        <p:nvPicPr>
          <p:cNvPr id="7" name="Picture 6" descr="ea0979a6-2012-445c-a44f-f8c51dd08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572768"/>
            <a:ext cx="10186416" cy="4270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" y="5989320"/>
            <a:ext cx="103327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0C5D7"/>
                </a:solidFill>
                <a:latin typeface="Aptos"/>
              </a:defRPr>
            </a:pPr>
            <a:r>
              <a:t>CloudWatch Classic Metrics • EC2 CPUUtilization • Stockholm • one-day window. Not a per-job profiler.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LIMITATIONS &amp;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What the experiments can and cannot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276088" cy="352044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783080"/>
            <a:ext cx="5276088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039112"/>
            <a:ext cx="4910327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606040"/>
            <a:ext cx="4818888" cy="2587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Real cloud processing &amp; stored artifacts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Temporal Q2 evaluation at fixed Q1 thresholds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False-positive counts and PR-oriented metrics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Differences across two HDD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57800" cy="3520440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57800" cy="64008"/>
          </a:xfrm>
          <a:prstGeom prst="rect">
            <a:avLst/>
          </a:prstGeom>
          <a:solidFill>
            <a:srgbClr val="F3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039112"/>
            <a:ext cx="4892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37976"/>
                </a:solidFill>
                <a:latin typeface="Aptos"/>
              </a:defRPr>
            </a:pPr>
            <a:r>
              <a:t>NOT YET 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06040"/>
            <a:ext cx="4800600" cy="2587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Production-ready alert precision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Independent unseen-drive-model generalization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Calibrated failure probability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• Causal attribution of CloudWatch CPU spikes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678424"/>
            <a:ext cx="10570464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0C5D7"/>
                </a:solidFill>
                <a:latin typeface="Aptos"/>
              </a:defRPr>
            </a:pPr>
            <a:r>
              <a:t>Future work: true unseen-model split, pre-quarter feature history, probability calibration and alert-cost curve.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TECHNICAL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Reproduce the cloud experiments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5212080" cy="3648456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5212080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484632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DATA +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06040"/>
            <a:ext cx="4754880" cy="2715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1. Private S3 bucket in eu-north-1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2. Amazon Linux 2023 EC2, Python 3.11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3. Attach scoped EC2 IAM role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4. Download Q1/Q2 Backblaze ZIPs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783080"/>
            <a:ext cx="5230368" cy="3648456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230368" cy="64008"/>
          </a:xfrm>
          <a:prstGeom prst="rect">
            <a:avLst/>
          </a:prstGeom>
          <a:solidFill>
            <a:srgbClr val="EF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039112"/>
            <a:ext cx="4864607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FA750"/>
                </a:solidFill>
                <a:latin typeface="Aptos"/>
              </a:defRPr>
            </a:pPr>
            <a:r>
              <a:t>PIPELINE +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606040"/>
            <a:ext cx="4773168" cy="27157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5. Q1 pilot labeling, train &amp; validate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6. Freeze Q1 decision thresholds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7. Evaluate all eligible Q2 drive-days</a:t>
            </a:r>
          </a:p>
          <a:p>
            <a:pPr>
              <a:spcAft>
                <a:spcPts val="600"/>
              </a:spcAft>
              <a:defRPr sz="1600" b="0">
                <a:solidFill>
                  <a:srgbClr val="F6F8FD"/>
                </a:solidFill>
                <a:latin typeface="Aptos"/>
              </a:defRPr>
            </a:pPr>
            <a:r>
              <a:t>8. Upload CSV, JSON, models and figures to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50992"/>
            <a:ext cx="1078992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0"/>
              </a:spcAft>
            </a:pPr>
            <a:r>
              <a:rPr sz="1050"/>
              <a:t>Source repository: https://github.com/mohammedhossam740-oss/cloud-project.git</a:t>
            </a:r>
          </a:p>
          <a:p>
            <a:pPr>
              <a:spcAft>
                <a:spcPts val="0"/>
              </a:spcAft>
            </a:pPr>
            <a:r>
              <a:rPr sz="1050"/>
              <a:t>Upload code, scripts and README before submission; keep Backblaze archives and credentials private.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56248"/>
            <a:ext cx="9875520" cy="1737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PROJECT 7  |  AWS • BACKBLAZE • 7-DAY DISK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37960"/>
            <a:ext cx="54864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0C5D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5C9B6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6F8FD"/>
                </a:solidFill>
                <a:latin typeface="Aptos"/>
              </a:defRPr>
            </a:pPr>
            <a:r>
              <a:t>Conclusion: cloud experiment completed; deployment not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10744200" cy="2176272"/>
          </a:xfrm>
          <a:prstGeom prst="roundRect">
            <a:avLst/>
          </a:prstGeom>
          <a:solidFill>
            <a:srgbClr val="15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12848"/>
            <a:ext cx="10040112" cy="1389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F6F8FD"/>
                </a:solidFill>
                <a:latin typeface="Aptos"/>
              </a:defRPr>
            </a:pPr>
            <a:r>
              <a:t>The project demonstrates genuine AWS-based HDD failure prediction — and why extreme imbalance makes false alarms the key barrier.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70832"/>
            <a:ext cx="5111496" cy="1261872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370832"/>
            <a:ext cx="5111496" cy="64008"/>
          </a:xfrm>
          <a:prstGeom prst="rect">
            <a:avLst/>
          </a:prstGeom>
          <a:solidFill>
            <a:srgbClr val="45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626864"/>
            <a:ext cx="4745736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5C9B6"/>
                </a:solidFill>
                <a:latin typeface="Aptos"/>
              </a:defRPr>
            </a:pPr>
            <a:r>
              <a:t>BEST Q2 FPR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193792"/>
            <a:ext cx="4654296" cy="329183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6F8FD"/>
                </a:solidFill>
                <a:latin typeface="Aptos"/>
              </a:defRPr>
            </a:pPr>
            <a:r>
              <a:t>Static weighted LightGBM: 36.35% FPR / 87.09% 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370832"/>
            <a:ext cx="5111496" cy="1261872"/>
          </a:xfrm>
          <a:prstGeom prst="roundRect">
            <a:avLst/>
          </a:prstGeom>
          <a:solidFill>
            <a:srgbClr val="1B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370832"/>
            <a:ext cx="5111496" cy="64008"/>
          </a:xfrm>
          <a:prstGeom prst="rect">
            <a:avLst/>
          </a:prstGeom>
          <a:solidFill>
            <a:srgbClr val="F3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4626864"/>
            <a:ext cx="4745736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37976"/>
                </a:solidFill>
                <a:latin typeface="Aptos"/>
              </a:defRPr>
            </a:pPr>
            <a:r>
              <a:t>KEY 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5193792"/>
            <a:ext cx="4654296" cy="329183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6F8FD"/>
                </a:solidFill>
                <a:latin typeface="Aptos"/>
              </a:defRPr>
            </a:pPr>
            <a:r>
              <a:t>Very low precision: 0.1355% for this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989320"/>
            <a:ext cx="10332720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000"/>
              <a:t>MSA University  •  Team: Mohammed Hossam, Ahmed Tamer, Ahmed Mohamed, Hamza Belal  •  GitHub upload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